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Fira Sans Extra Condensed Medium"/>
      <p:regular r:id="rId20"/>
      <p:bold r:id="rId21"/>
      <p:italic r:id="rId22"/>
      <p:boldItalic r:id="rId23"/>
    </p:embeddedFont>
    <p:embeddedFont>
      <p:font typeface="Fira Sans Extra Condense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Medium-regular.fntdata"/><Relationship Id="rId22" Type="http://schemas.openxmlformats.org/officeDocument/2006/relationships/font" Target="fonts/FiraSansExtraCondensedMedium-italic.fntdata"/><Relationship Id="rId21" Type="http://schemas.openxmlformats.org/officeDocument/2006/relationships/font" Target="fonts/FiraSansExtraCondensedMedium-bold.fntdata"/><Relationship Id="rId24" Type="http://schemas.openxmlformats.org/officeDocument/2006/relationships/font" Target="fonts/FiraSansExtraCondensed-regular.fntdata"/><Relationship Id="rId23" Type="http://schemas.openxmlformats.org/officeDocument/2006/relationships/font" Target="fonts/FiraSansExtraCondensed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-italic.fntdata"/><Relationship Id="rId25" Type="http://schemas.openxmlformats.org/officeDocument/2006/relationships/font" Target="fonts/FiraSansExtraCondensed-bold.fntdata"/><Relationship Id="rId27" Type="http://schemas.openxmlformats.org/officeDocument/2006/relationships/font" Target="fonts/FiraSansExtra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0741911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0741911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0741911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0741911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80741911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80741911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80741911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80741911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0741911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80741911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0741911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80741911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80741911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80741911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80741911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80741911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80741911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80741911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83b7620e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83b7620e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83b7620e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83b7620e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83b7620e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83b7620e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83b7620e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83b7620e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13400" y="19300"/>
            <a:ext cx="8038500" cy="16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Analyse des ventes librairie Lapage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700" y="834821"/>
            <a:ext cx="1049251" cy="104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79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Avec toutes ses informations traité nous allons faire nos observations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25" y="1241525"/>
            <a:ext cx="3238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00" y="2395044"/>
            <a:ext cx="3238500" cy="974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300" y="3625671"/>
            <a:ext cx="3238500" cy="7078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4"/>
          <p:cNvCxnSpPr/>
          <p:nvPr/>
        </p:nvCxnSpPr>
        <p:spPr>
          <a:xfrm flipH="1">
            <a:off x="3897675" y="1329625"/>
            <a:ext cx="16200" cy="30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3830113" y="1551475"/>
            <a:ext cx="23148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Supprimer les doublons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Modifier les valeurs improbable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Regarder si y’a des valeurs manquante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7075" y="1912750"/>
            <a:ext cx="2752000" cy="152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4"/>
          <p:cNvCxnSpPr/>
          <p:nvPr/>
        </p:nvCxnSpPr>
        <p:spPr>
          <a:xfrm flipH="1">
            <a:off x="6059250" y="1329625"/>
            <a:ext cx="16200" cy="30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810000" y="31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Cela nous permet de comprendre comment évolue le CA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50" y="1278838"/>
            <a:ext cx="5971325" cy="31636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6148100" y="1348975"/>
            <a:ext cx="90717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100" lIns="50225" spcFirstLastPara="1" rIns="50225" wrap="square" tIns="2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86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rgbClr val="000000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4517" y="1719956"/>
            <a:ext cx="372518" cy="378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4517" y="2422175"/>
            <a:ext cx="372518" cy="384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4517" y="3226944"/>
            <a:ext cx="372518" cy="38449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6823175" y="1659625"/>
            <a:ext cx="12777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Tendance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796925" y="2266350"/>
            <a:ext cx="1860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Comprendre Monté/Descente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823175" y="3102175"/>
            <a:ext cx="1808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Capitaliser sur ces tendances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673375" y="509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Le nombre de client reste globalement stable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5" y="1487962"/>
            <a:ext cx="6218451" cy="3080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1012760" y="1333700"/>
            <a:ext cx="1166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>
              <a:solidFill>
                <a:srgbClr val="000000"/>
              </a:solidFill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566000" y="1864500"/>
            <a:ext cx="2370900" cy="5727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79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743"/>
              <a:t>Un pic en Octobre 2021</a:t>
            </a:r>
            <a:endParaRPr sz="1743">
              <a:solidFill>
                <a:srgbClr val="000000"/>
              </a:solidFill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566000" y="3099150"/>
            <a:ext cx="23709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7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743"/>
              <a:t>Une descente en Janvier 2023</a:t>
            </a:r>
            <a:endParaRPr sz="1743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96550" y="34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Certaine catégorie de livre engendre plus de CA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8823"/>
            <a:ext cx="4423898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5135475" y="1543050"/>
            <a:ext cx="3568200" cy="24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1 - </a:t>
            </a:r>
            <a:r>
              <a:rPr lang="fr" sz="1800">
                <a:solidFill>
                  <a:schemeClr val="dk2"/>
                </a:solidFill>
              </a:rPr>
              <a:t>Génère</a:t>
            </a:r>
            <a:r>
              <a:rPr lang="fr" sz="1800">
                <a:solidFill>
                  <a:schemeClr val="dk2"/>
                </a:solidFill>
              </a:rPr>
              <a:t> le plus de CA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0 - Génère un peu moin que la première catégorie - 8%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2 - Un écart important comparé au 2 autres catégorie -37%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13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 contraste avec le graphique précèdent le CA ne correspond pas au nombre de vente 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22" y="1242472"/>
            <a:ext cx="4403226" cy="33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5199750" y="1478750"/>
            <a:ext cx="29415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0 - Vends beaucoup mais pour un prix bas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1 - Vends moins que la catégorie 0 mais pour un prix plus élevès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2 - Vends très peu mais pour un prix très élevès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84025" y="39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Cette courbe montre que le CA par client n’est pas homogène 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875" y="1117125"/>
            <a:ext cx="3599901" cy="368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742" y="1631556"/>
            <a:ext cx="372518" cy="37839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894350" y="1535025"/>
            <a:ext cx="26280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50 % de nos clients font 20% du CA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400400" y="2619825"/>
            <a:ext cx="343200" cy="3378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4906350" y="2419050"/>
            <a:ext cx="2604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50 % du CA est réalisé par 80 % de nos clients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432500" y="2539600"/>
            <a:ext cx="2448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4400400" y="3463125"/>
            <a:ext cx="343200" cy="3378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4432500" y="3398750"/>
            <a:ext cx="244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4910425" y="3439725"/>
            <a:ext cx="2901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Notre CA est concentrés sur certains clients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Ces 5 clients réalisent le plus gros chiffres d’affaires 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4250"/>
            <a:ext cx="4753274" cy="3546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5248000" y="1768075"/>
            <a:ext cx="33351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Vente de nos livres à d’autre institue B2B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Business important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785850" y="308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L’achat des livres varient en fonction des âges et des catégories 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300" y="1152463"/>
            <a:ext cx="7227524" cy="358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605625" y="477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Le genre et la catégorie lu à une corrélation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255450" y="1168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Chi2 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975" y="1024900"/>
            <a:ext cx="35623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5400600" y="1168550"/>
            <a:ext cx="3391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Valeurs P &lt; 0.05 = corrélation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5593875" y="1720225"/>
            <a:ext cx="3423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Cramer = 0.015 relation existante mais faible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5" y="1720225"/>
            <a:ext cx="5560395" cy="33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483675" y="32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L’âge et la dépense sont corrélé, mais négligable 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483675" y="1032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675" y="898100"/>
            <a:ext cx="5603470" cy="418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Les personnes âgées ont tendance à acheter plus fréquemment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975" y="2228871"/>
            <a:ext cx="393902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66275"/>
            <a:ext cx="5128974" cy="38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1992775" y="22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Plus l’âge augmente, moins le panier est élevé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1875" y="1839525"/>
            <a:ext cx="2641207" cy="3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499" y="802250"/>
            <a:ext cx="6117324" cy="459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639150" y="459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Les catégories d’âge influent sur la catégorie de livre acheté 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3450" y="1600175"/>
            <a:ext cx="2446300" cy="4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5" y="1085000"/>
            <a:ext cx="6676724" cy="39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